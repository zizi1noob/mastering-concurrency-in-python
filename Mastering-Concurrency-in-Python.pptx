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embeddedFontLst>
    <p:embeddedFont>
      <p:font typeface="Inter" panose="020B0604020202020204" charset="0"/>
      <p:regular r:id="rId5"/>
    </p:embeddedFont>
    <p:embeddedFont>
      <p:font typeface="Inter Bold" panose="020B0604020202020204" charset="0"/>
      <p:regular r:id="rId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E4367-9C75-4943-922A-5084C435C7E3}" v="3" dt="2026-09-04T06:20:36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6/11/relationships/changesInfo" Target="changesInfos/changesInfo1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, Ziyang" userId="e73552f2-0148-4963-9b9f-13df8138bbb5" providerId="ADAL" clId="{48E9E806-3394-44FF-AA10-D35882C429D3}"/>
    <pc:docChg chg="custSel modSld">
      <pc:chgData name="Zhan, Ziyang" userId="e73552f2-0148-4963-9b9f-13df8138bbb5" providerId="ADAL" clId="{48E9E806-3394-44FF-AA10-D35882C429D3}" dt="2026-09-04T06:20:36.757" v="29" actId="27636"/>
      <pc:docMkLst>
        <pc:docMk/>
      </pc:docMkLst>
      <pc:sldChg chg="delSp modSp mod">
        <pc:chgData name="Zhan, Ziyang" userId="e73552f2-0148-4963-9b9f-13df8138bbb5" providerId="ADAL" clId="{48E9E806-3394-44FF-AA10-D35882C429D3}" dt="2026-09-04T05:51:10.570" v="8" actId="1076"/>
        <pc:sldMkLst>
          <pc:docMk/>
          <pc:sldMk cId="0" sldId="256"/>
        </pc:sldMkLst>
        <pc:spChg chg="del">
          <ac:chgData name="Zhan, Ziyang" userId="e73552f2-0148-4963-9b9f-13df8138bbb5" providerId="ADAL" clId="{48E9E806-3394-44FF-AA10-D35882C429D3}" dt="2026-09-04T05:50:42.673" v="0" actId="478"/>
          <ac:spMkLst>
            <pc:docMk/>
            <pc:sldMk cId="0" sldId="256"/>
            <ac:spMk id="11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0:50.108" v="2" actId="14100"/>
          <ac:spMkLst>
            <pc:docMk/>
            <pc:sldMk cId="0" sldId="256"/>
            <ac:spMk id="12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1:10.570" v="8" actId="1076"/>
          <ac:spMkLst>
            <pc:docMk/>
            <pc:sldMk cId="0" sldId="256"/>
            <ac:spMk id="13" creationId="{00000000-0000-0000-0000-000000000000}"/>
          </ac:spMkLst>
        </pc:spChg>
        <pc:spChg chg="del">
          <ac:chgData name="Zhan, Ziyang" userId="e73552f2-0148-4963-9b9f-13df8138bbb5" providerId="ADAL" clId="{48E9E806-3394-44FF-AA10-D35882C429D3}" dt="2026-09-04T05:51:02.356" v="5" actId="478"/>
          <ac:spMkLst>
            <pc:docMk/>
            <pc:sldMk cId="0" sldId="256"/>
            <ac:spMk id="15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1:05.139" v="6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1:07.828" v="7" actId="1076"/>
          <ac:spMkLst>
            <pc:docMk/>
            <pc:sldMk cId="0" sldId="256"/>
            <ac:spMk id="17" creationId="{00000000-0000-0000-0000-000000000000}"/>
          </ac:spMkLst>
        </pc:spChg>
        <pc:picChg chg="mod">
          <ac:chgData name="Zhan, Ziyang" userId="e73552f2-0148-4963-9b9f-13df8138bbb5" providerId="ADAL" clId="{48E9E806-3394-44FF-AA10-D35882C429D3}" dt="2026-09-04T05:51:01.052" v="4" actId="1076"/>
          <ac:picMkLst>
            <pc:docMk/>
            <pc:sldMk cId="0" sldId="256"/>
            <ac:picMk id="14" creationId="{00000000-0000-0000-0000-000000000000}"/>
          </ac:picMkLst>
        </pc:picChg>
      </pc:sldChg>
      <pc:sldChg chg="modSp mod">
        <pc:chgData name="Zhan, Ziyang" userId="e73552f2-0148-4963-9b9f-13df8138bbb5" providerId="ADAL" clId="{48E9E806-3394-44FF-AA10-D35882C429D3}" dt="2026-09-04T06:20:36.757" v="29" actId="27636"/>
        <pc:sldMkLst>
          <pc:docMk/>
          <pc:sldMk cId="0" sldId="257"/>
        </pc:sldMkLst>
        <pc:spChg chg="mod">
          <ac:chgData name="Zhan, Ziyang" userId="e73552f2-0148-4963-9b9f-13df8138bbb5" providerId="ADAL" clId="{48E9E806-3394-44FF-AA10-D35882C429D3}" dt="2026-09-04T06:20:36.757" v="29" actId="2763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6:20:30.935" v="27" actId="20577"/>
          <ac:spMkLst>
            <pc:docMk/>
            <pc:sldMk cId="0" sldId="257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941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en-HK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HK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hyperlink" Target="https://github.com/ZiZi1noob/Mastering-Concurrency-in-Py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34987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2F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Mastering Concurrency in Python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5233360" y="1913235"/>
            <a:ext cx="6296860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structured study of Python's concurrency models — exploring how tasks are executed, coordinated, and optimized for real-world performance.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233360" y="2945408"/>
            <a:ext cx="1227603" cy="272752"/>
          </a:xfrm>
          <a:prstGeom prst="roundRect">
            <a:avLst>
              <a:gd name="adj" fmla="val 22121"/>
            </a:avLst>
          </a:prstGeom>
          <a:solidFill>
            <a:srgbClr val="CCEAFF"/>
          </a:solidFill>
          <a:ln/>
        </p:spPr>
        <p:txBody>
          <a:bodyPr/>
          <a:lstStyle/>
          <a:p>
            <a:endParaRPr lang="en-HK"/>
          </a:p>
        </p:txBody>
      </p:sp>
      <p:sp>
        <p:nvSpPr>
          <p:cNvPr id="6" name="Text 3"/>
          <p:cNvSpPr/>
          <p:nvPr/>
        </p:nvSpPr>
        <p:spPr>
          <a:xfrm>
            <a:off x="5341010" y="2999184"/>
            <a:ext cx="1621888" cy="165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 NOTES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550655" y="2945408"/>
            <a:ext cx="1036413" cy="272752"/>
          </a:xfrm>
          <a:prstGeom prst="roundRect">
            <a:avLst>
              <a:gd name="adj" fmla="val 22121"/>
            </a:avLst>
          </a:prstGeom>
          <a:noFill/>
          <a:ln w="6350">
            <a:solidFill>
              <a:srgbClr val="005A9B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8" name="Text 5"/>
          <p:cNvSpPr/>
          <p:nvPr/>
        </p:nvSpPr>
        <p:spPr>
          <a:xfrm>
            <a:off x="6658305" y="2999184"/>
            <a:ext cx="1430699" cy="165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005A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09/04/2026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233360" y="3454896"/>
            <a:ext cx="6296860" cy="25400"/>
          </a:xfrm>
          <a:prstGeom prst="roundRect">
            <a:avLst>
              <a:gd name="adj" fmla="val 49999"/>
            </a:avLst>
          </a:prstGeom>
          <a:solidFill>
            <a:srgbClr val="000000">
              <a:alpha val="50000"/>
            </a:srgbClr>
          </a:solidFill>
          <a:ln/>
        </p:spPr>
        <p:txBody>
          <a:bodyPr/>
          <a:lstStyle/>
          <a:p>
            <a:endParaRPr lang="en-HK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3739455"/>
            <a:ext cx="179482" cy="1794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93654" y="3725483"/>
            <a:ext cx="87264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Author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6722650" y="3750170"/>
            <a:ext cx="306310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Caleb Hattingh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1269" y="4313893"/>
            <a:ext cx="179482" cy="17948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537259" y="4292401"/>
            <a:ext cx="3063203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Published</a:t>
            </a:r>
            <a:endParaRPr lang="en-US" sz="1750" dirty="0"/>
          </a:p>
        </p:txBody>
      </p:sp>
      <p:sp>
        <p:nvSpPr>
          <p:cNvPr id="17" name="Text 12"/>
          <p:cNvSpPr/>
          <p:nvPr/>
        </p:nvSpPr>
        <p:spPr>
          <a:xfrm>
            <a:off x="6776240" y="4301191"/>
            <a:ext cx="306320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O'Reilly Media · 2nd Edition, 2020</a:t>
            </a:r>
            <a:endParaRPr lang="en-US" sz="14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5127724"/>
            <a:ext cx="179482" cy="179487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233360" y="5384998"/>
            <a:ext cx="6296860" cy="25400"/>
          </a:xfrm>
          <a:prstGeom prst="rect">
            <a:avLst/>
          </a:prstGeom>
          <a:solidFill>
            <a:srgbClr val="005A9B"/>
          </a:solidFill>
          <a:ln/>
        </p:spPr>
        <p:txBody>
          <a:bodyPr/>
          <a:lstStyle/>
          <a:p>
            <a:endParaRPr lang="en-HK"/>
          </a:p>
        </p:txBody>
      </p:sp>
      <p:sp>
        <p:nvSpPr>
          <p:cNvPr id="20" name="Text 14"/>
          <p:cNvSpPr/>
          <p:nvPr/>
        </p:nvSpPr>
        <p:spPr>
          <a:xfrm>
            <a:off x="5233360" y="5525492"/>
            <a:ext cx="629686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Source Code</a:t>
            </a:r>
            <a:endParaRPr lang="en-US" sz="1750" dirty="0"/>
          </a:p>
        </p:txBody>
      </p:sp>
      <p:sp>
        <p:nvSpPr>
          <p:cNvPr id="21" name="Text 15"/>
          <p:cNvSpPr/>
          <p:nvPr/>
        </p:nvSpPr>
        <p:spPr>
          <a:xfrm>
            <a:off x="5233360" y="5908278"/>
            <a:ext cx="629686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u="sng" dirty="0">
                <a:solidFill>
                  <a:srgbClr val="005A9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  <a:hlinkClick r:id="rId7"/>
              </a:rPr>
              <a:t>github.com-Mastering-Concurrency-in-Python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2387"/>
            <a:ext cx="10868745" cy="4069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002F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Concurrent vs. Sequential vs. Parallel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661475" y="1108869"/>
            <a:ext cx="11478330" cy="176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distinct models for executing tasks — each with different trade-offs in performance, complexity, and resource usage.</a:t>
            </a:r>
            <a:endParaRPr lang="en-US" sz="1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86694"/>
            <a:ext cx="4747895" cy="4748014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1043" y="2443460"/>
            <a:ext cx="5275527" cy="76765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86462" y="2592685"/>
            <a:ext cx="490088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5A9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Sequential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6486462" y="2885877"/>
            <a:ext cx="4900887" cy="176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run one after another. Simplest model, but idle during I/O waits.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61043" y="3300809"/>
            <a:ext cx="5275527" cy="94367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86462" y="3450034"/>
            <a:ext cx="490088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5A9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Concurrent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6486462" y="3743226"/>
            <a:ext cx="4900887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47500" lnSpcReduction="20000"/>
          </a:bodyPr>
          <a:lstStyle/>
          <a:p>
            <a:pPr>
              <a:lnSpc>
                <a:spcPct val="113000"/>
              </a:lnSpc>
            </a:pPr>
            <a:r>
              <a:rPr lang="en-HK" dirty="0"/>
              <a:t>指系统具备</a:t>
            </a:r>
            <a:r>
              <a:rPr lang="en-HK" b="1" dirty="0"/>
              <a:t>处理多个任务</a:t>
            </a:r>
            <a:r>
              <a:rPr lang="en-HK" dirty="0"/>
              <a:t>的能力。它强调的是</a:t>
            </a:r>
            <a:r>
              <a:rPr lang="en-HK" b="1" dirty="0"/>
              <a:t>“</a:t>
            </a:r>
            <a:r>
              <a:rPr lang="en-HK" b="1" dirty="0" err="1"/>
              <a:t>交替执行</a:t>
            </a:r>
            <a:r>
              <a:rPr lang="en-HK" b="1" dirty="0"/>
              <a:t>”</a:t>
            </a:r>
            <a:r>
              <a:rPr lang="en-HK" dirty="0"/>
              <a:t>。</a:t>
            </a:r>
            <a:r>
              <a:rPr lang="en-HK" dirty="0" err="1"/>
              <a:t>在单核</a:t>
            </a:r>
            <a:r>
              <a:rPr lang="en-HK" dirty="0"/>
              <a:t> CPU </a:t>
            </a:r>
            <a:r>
              <a:rPr lang="en-HK" dirty="0" err="1"/>
              <a:t>上，通过极短的时间片切换（上下文切换</a:t>
            </a:r>
            <a:r>
              <a:rPr lang="en-HK" dirty="0"/>
              <a:t>），</a:t>
            </a:r>
            <a:r>
              <a:rPr lang="en-HK" dirty="0" err="1"/>
              <a:t>让多个任务看起来像在同时进行，但实际上同一瞬间只有一个任务在跑</a:t>
            </a:r>
            <a:r>
              <a:rPr lang="en-HK" dirty="0"/>
              <a:t>。</a:t>
            </a:r>
            <a:endParaRPr lang="en-US" sz="10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61043" y="4334173"/>
            <a:ext cx="5275527" cy="94367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86462" y="4483398"/>
            <a:ext cx="490088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AE8D4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Parallel</a:t>
            </a:r>
            <a:endParaRPr lang="en-US" sz="1250" dirty="0"/>
          </a:p>
        </p:txBody>
      </p:sp>
      <p:sp>
        <p:nvSpPr>
          <p:cNvPr id="13" name="Text 7"/>
          <p:cNvSpPr/>
          <p:nvPr/>
        </p:nvSpPr>
        <p:spPr>
          <a:xfrm>
            <a:off x="6486462" y="4776589"/>
            <a:ext cx="4900887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lvl="0"/>
            <a:r>
              <a:rPr lang="en-HK" dirty="0"/>
              <a:t>指系统具备</a:t>
            </a:r>
            <a:r>
              <a:rPr lang="en-HK" b="1" dirty="0"/>
              <a:t>同时执行</a:t>
            </a:r>
            <a:r>
              <a:rPr lang="en-HK" dirty="0"/>
              <a:t>多个任务的能力。它强调的是</a:t>
            </a:r>
            <a:r>
              <a:rPr lang="en-HK" b="1" dirty="0"/>
              <a:t>“</a:t>
            </a:r>
            <a:r>
              <a:rPr lang="en-HK" b="1" dirty="0" err="1"/>
              <a:t>同时进行</a:t>
            </a:r>
            <a:r>
              <a:rPr lang="en-HK" b="1" dirty="0"/>
              <a:t>”</a:t>
            </a:r>
            <a:r>
              <a:rPr lang="en-HK" dirty="0"/>
              <a:t>。</a:t>
            </a:r>
            <a:r>
              <a:rPr lang="en-HK" dirty="0" err="1"/>
              <a:t>必须在多核</a:t>
            </a:r>
            <a:r>
              <a:rPr lang="en-HK" dirty="0"/>
              <a:t> CPU </a:t>
            </a:r>
            <a:r>
              <a:rPr lang="en-HK" dirty="0" err="1"/>
              <a:t>或多处理器环境下，同一瞬间有多个任务真正在各自的核上运行</a:t>
            </a:r>
            <a:r>
              <a:rPr lang="en-HK" dirty="0"/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5A9B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124</Words>
  <Application>Microsoft Office PowerPoint</Application>
  <PresentationFormat>Widescreen</PresentationFormat>
  <Paragraphs>20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Inter</vt:lpstr>
      <vt:lpstr>Inter Bold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Zhan, Ziyang</cp:lastModifiedBy>
  <cp:revision>1</cp:revision>
  <dcterms:created xsi:type="dcterms:W3CDTF">2026-09-04T05:49:14Z</dcterms:created>
  <dcterms:modified xsi:type="dcterms:W3CDTF">2026-09-04T06:20:45Z</dcterms:modified>
</cp:coreProperties>
</file>