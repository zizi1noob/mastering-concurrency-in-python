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10"/>
  </p:notes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</p:sldIdLst>
  <p:sldSz cx="12192000" cy="6858000"/>
  <p:notesSz cx="6858000" cy="12192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E4367-9C75-4943-922A-5084C435C7E3}" v="3" dt="2026-09-04T06:20:36.7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, Ziyang" userId="e73552f2-0148-4963-9b9f-13df8138bbb5" providerId="ADAL" clId="{48E9E806-3394-44FF-AA10-D35882C429D3}"/>
    <pc:docChg chg="custSel modSld">
      <pc:chgData name="Zhan, Ziyang" userId="e73552f2-0148-4963-9b9f-13df8138bbb5" providerId="ADAL" clId="{48E9E806-3394-44FF-AA10-D35882C429D3}" dt="2026-09-04T06:20:36.757" v="29" actId="27636"/>
      <pc:docMkLst>
        <pc:docMk/>
      </pc:docMkLst>
      <pc:sldChg chg="delSp modSp mod">
        <pc:chgData name="Zhan, Ziyang" userId="e73552f2-0148-4963-9b9f-13df8138bbb5" providerId="ADAL" clId="{48E9E806-3394-44FF-AA10-D35882C429D3}" dt="2026-09-04T05:51:10.570" v="8" actId="1076"/>
        <pc:sldMkLst>
          <pc:docMk/>
          <pc:sldMk cId="0" sldId="256"/>
        </pc:sldMkLst>
        <pc:spChg chg="del">
          <ac:chgData name="Zhan, Ziyang" userId="e73552f2-0148-4963-9b9f-13df8138bbb5" providerId="ADAL" clId="{48E9E806-3394-44FF-AA10-D35882C429D3}" dt="2026-09-04T05:50:42.673" v="0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Zhan, Ziyang" userId="e73552f2-0148-4963-9b9f-13df8138bbb5" providerId="ADAL" clId="{48E9E806-3394-44FF-AA10-D35882C429D3}" dt="2026-09-04T05:50:50.108" v="2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Zhan, Ziyang" userId="e73552f2-0148-4963-9b9f-13df8138bbb5" providerId="ADAL" clId="{48E9E806-3394-44FF-AA10-D35882C429D3}" dt="2026-09-04T05:51:10.570" v="8" actId="1076"/>
          <ac:spMkLst>
            <pc:docMk/>
            <pc:sldMk cId="0" sldId="256"/>
            <ac:spMk id="13" creationId="{00000000-0000-0000-0000-000000000000}"/>
          </ac:spMkLst>
        </pc:spChg>
        <pc:spChg chg="del">
          <ac:chgData name="Zhan, Ziyang" userId="e73552f2-0148-4963-9b9f-13df8138bbb5" providerId="ADAL" clId="{48E9E806-3394-44FF-AA10-D35882C429D3}" dt="2026-09-04T05:51:02.356" v="5" actId="47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Zhan, Ziyang" userId="e73552f2-0148-4963-9b9f-13df8138bbb5" providerId="ADAL" clId="{48E9E806-3394-44FF-AA10-D35882C429D3}" dt="2026-09-04T05:51:05.139" v="6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Zhan, Ziyang" userId="e73552f2-0148-4963-9b9f-13df8138bbb5" providerId="ADAL" clId="{48E9E806-3394-44FF-AA10-D35882C429D3}" dt="2026-09-04T05:51:07.828" v="7" actId="1076"/>
          <ac:spMkLst>
            <pc:docMk/>
            <pc:sldMk cId="0" sldId="256"/>
            <ac:spMk id="17" creationId="{00000000-0000-0000-0000-000000000000}"/>
          </ac:spMkLst>
        </pc:spChg>
        <pc:picChg chg="mod">
          <ac:chgData name="Zhan, Ziyang" userId="e73552f2-0148-4963-9b9f-13df8138bbb5" providerId="ADAL" clId="{48E9E806-3394-44FF-AA10-D35882C429D3}" dt="2026-09-04T05:51:01.052" v="4" actId="1076"/>
          <ac:picMkLst>
            <pc:docMk/>
            <pc:sldMk cId="0" sldId="256"/>
            <ac:picMk id="14" creationId="{00000000-0000-0000-0000-000000000000}"/>
          </ac:picMkLst>
        </pc:picChg>
      </pc:sldChg>
      <pc:sldChg chg="modSp mod">
        <pc:chgData name="Zhan, Ziyang" userId="e73552f2-0148-4963-9b9f-13df8138bbb5" providerId="ADAL" clId="{48E9E806-3394-44FF-AA10-D35882C429D3}" dt="2026-09-04T06:20:36.757" v="29" actId="27636"/>
        <pc:sldMkLst>
          <pc:docMk/>
          <pc:sldMk cId="0" sldId="257"/>
        </pc:sldMkLst>
        <pc:spChg chg="mod">
          <ac:chgData name="Zhan, Ziyang" userId="e73552f2-0148-4963-9b9f-13df8138bbb5" providerId="ADAL" clId="{48E9E806-3394-44FF-AA10-D35882C429D3}" dt="2026-09-04T06:20:36.757" v="29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Zhan, Ziyang" userId="e73552f2-0148-4963-9b9f-13df8138bbb5" providerId="ADAL" clId="{48E9E806-3394-44FF-AA10-D35882C429D3}" dt="2026-09-04T06:20:30.935" v="27" actId="20577"/>
          <ac:spMkLst>
            <pc:docMk/>
            <pc:sldMk cId="0" sldId="25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94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16014-ACAB-8F26-4123-7A1CC523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F0671-E74F-AA40-1C42-C2BF6FB3B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3DBCB0-8D88-B785-A016-CEB356BCE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BDA46-D825-392F-CE1A-7A722D641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13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D6BA-C708-06C5-E74A-574ACCDB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EE369-7700-8832-4867-749D2FA9F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E49F5-D609-91D7-A949-A155BFB2A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2322F-F894-B2D7-14D5-BAE474667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5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A25D-6982-B5E7-D7F3-43AF7306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7B417-D100-E1C6-A6BD-5C0E95A18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43D7E-F971-3B06-6B66-008A21FF6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B5F15-BC88-73DD-52FF-0CCE11C6A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781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35C1D-0B24-E4CD-3806-23BF992EA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90A71-F9A3-96C2-CAA5-3154921B5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1F54C-25FB-72DD-BA0C-5E3FCE2F7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27A4F-A9C6-89EB-7587-E803D3694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4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36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4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18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hyperlink" Target="https://github.com/ZiZi1noob/Mastering-Concurrency-in-Pyth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498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2F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Mastering Concurrency in Python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913235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study of Python's concurrency models — exploring how tasks are executed, coordinated, and optimized for real-world performance.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2945408"/>
            <a:ext cx="1227603" cy="272752"/>
          </a:xfrm>
          <a:prstGeom prst="roundRect">
            <a:avLst>
              <a:gd name="adj" fmla="val 22121"/>
            </a:avLst>
          </a:prstGeom>
          <a:solidFill>
            <a:srgbClr val="CCEAFF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6" name="Text 3"/>
          <p:cNvSpPr/>
          <p:nvPr/>
        </p:nvSpPr>
        <p:spPr>
          <a:xfrm>
            <a:off x="5341010" y="2999184"/>
            <a:ext cx="162188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NOTES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50655" y="2945408"/>
            <a:ext cx="1036413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005A9B"/>
            </a:solidFill>
            <a:prstDash val="solid"/>
          </a:ln>
        </p:spPr>
        <p:txBody>
          <a:bodyPr/>
          <a:lstStyle/>
          <a:p>
            <a:endParaRPr lang="en-HK"/>
          </a:p>
        </p:txBody>
      </p:sp>
      <p:sp>
        <p:nvSpPr>
          <p:cNvPr id="8" name="Text 5"/>
          <p:cNvSpPr/>
          <p:nvPr/>
        </p:nvSpPr>
        <p:spPr>
          <a:xfrm>
            <a:off x="6658305" y="2999184"/>
            <a:ext cx="1430699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005A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09/04/2026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345489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HK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739455"/>
            <a:ext cx="179482" cy="1794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3654" y="3725483"/>
            <a:ext cx="8726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722650" y="3750170"/>
            <a:ext cx="306310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Caleb Hattingh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1269" y="4313893"/>
            <a:ext cx="179482" cy="1794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37259" y="4292401"/>
            <a:ext cx="30632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Published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6776240" y="4301191"/>
            <a:ext cx="306320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O'Reilly Media · 2nd Edition, 2020</a:t>
            </a:r>
            <a:endParaRPr lang="en-US" sz="14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5127724"/>
            <a:ext cx="179482" cy="179487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233360" y="5384998"/>
            <a:ext cx="6296860" cy="25400"/>
          </a:xfrm>
          <a:prstGeom prst="rect">
            <a:avLst/>
          </a:prstGeom>
          <a:solidFill>
            <a:srgbClr val="005A9B"/>
          </a:solidFill>
          <a:ln/>
        </p:spPr>
        <p:txBody>
          <a:bodyPr/>
          <a:lstStyle/>
          <a:p>
            <a:endParaRPr lang="en-HK"/>
          </a:p>
        </p:txBody>
      </p:sp>
      <p:sp>
        <p:nvSpPr>
          <p:cNvPr id="20" name="Text 14"/>
          <p:cNvSpPr/>
          <p:nvPr/>
        </p:nvSpPr>
        <p:spPr>
          <a:xfrm>
            <a:off x="5233360" y="5525492"/>
            <a:ext cx="62968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Source Code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5233360" y="5908278"/>
            <a:ext cx="629686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u="sng" dirty="0">
                <a:solidFill>
                  <a:srgbClr val="005A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7"/>
              </a:rPr>
              <a:t>github.com-Mastering-Concurrency-in-Python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04" y="2465206"/>
            <a:ext cx="10868745" cy="123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0" b="1" i="0" u="none" strike="noStrike" kern="1200" cap="none" spc="0" normalizeH="0" baseline="0" noProof="0" dirty="0">
                <a:ln>
                  <a:noFill/>
                </a:ln>
                <a:solidFill>
                  <a:srgbClr val="002F6B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01</a:t>
            </a:r>
            <a:endParaRPr kumimoji="0" lang="en-US" sz="7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38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2F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Concurrent vs. Sequential vs. Parallel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08869"/>
            <a:ext cx="1147833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models for executing tasks — each with different trade-offs in performance, complexity, and resource usage.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6694"/>
            <a:ext cx="4747895" cy="474801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1043" y="2443460"/>
            <a:ext cx="5275527" cy="7676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86462" y="2592685"/>
            <a:ext cx="490088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5A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Sequential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486462" y="2885877"/>
            <a:ext cx="4900887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run one after another. Simplest model, but idle during I/O waits.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1043" y="3300809"/>
            <a:ext cx="5275527" cy="9436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86462" y="3450034"/>
            <a:ext cx="490088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5A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Concurrent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6486462" y="3743226"/>
            <a:ext cx="490088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>
              <a:lnSpc>
                <a:spcPct val="113000"/>
              </a:lnSpc>
            </a:pPr>
            <a:r>
              <a:rPr lang="en-HK" dirty="0"/>
              <a:t>指系统具备</a:t>
            </a:r>
            <a:r>
              <a:rPr lang="en-HK" b="1" dirty="0"/>
              <a:t>处理多个任务</a:t>
            </a:r>
            <a:r>
              <a:rPr lang="en-HK" dirty="0"/>
              <a:t>的能力。它强调的是</a:t>
            </a:r>
            <a:r>
              <a:rPr lang="en-HK" b="1" dirty="0"/>
              <a:t>“</a:t>
            </a:r>
            <a:r>
              <a:rPr lang="en-HK" b="1" dirty="0" err="1"/>
              <a:t>交替执行</a:t>
            </a:r>
            <a:r>
              <a:rPr lang="en-HK" b="1" dirty="0"/>
              <a:t>”</a:t>
            </a:r>
            <a:r>
              <a:rPr lang="en-HK" dirty="0"/>
              <a:t>。</a:t>
            </a:r>
            <a:r>
              <a:rPr lang="en-HK" dirty="0" err="1"/>
              <a:t>在单核</a:t>
            </a:r>
            <a:r>
              <a:rPr lang="en-HK" dirty="0"/>
              <a:t> CPU </a:t>
            </a:r>
            <a:r>
              <a:rPr lang="en-HK" dirty="0" err="1"/>
              <a:t>上，通过极短的时间片切换（上下文切换</a:t>
            </a:r>
            <a:r>
              <a:rPr lang="en-HK" dirty="0"/>
              <a:t>），</a:t>
            </a:r>
            <a:r>
              <a:rPr lang="en-HK" dirty="0" err="1"/>
              <a:t>让多个任务看起来像在同时进行，但实际上同一瞬间只有一个任务在跑</a:t>
            </a:r>
            <a:r>
              <a:rPr lang="en-HK" dirty="0"/>
              <a:t>。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1043" y="4334173"/>
            <a:ext cx="5275527" cy="9436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86462" y="4483398"/>
            <a:ext cx="490088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AE8D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6486462" y="4776589"/>
            <a:ext cx="490088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lvl="0"/>
            <a:r>
              <a:rPr lang="en-HK" dirty="0"/>
              <a:t>指系统具备</a:t>
            </a:r>
            <a:r>
              <a:rPr lang="en-HK" b="1" dirty="0"/>
              <a:t>同时执行</a:t>
            </a:r>
            <a:r>
              <a:rPr lang="en-HK" dirty="0"/>
              <a:t>多个任务的能力。它强调的是</a:t>
            </a:r>
            <a:r>
              <a:rPr lang="en-HK" b="1" dirty="0"/>
              <a:t>“</a:t>
            </a:r>
            <a:r>
              <a:rPr lang="en-HK" b="1" dirty="0" err="1"/>
              <a:t>同时进行</a:t>
            </a:r>
            <a:r>
              <a:rPr lang="en-HK" b="1" dirty="0"/>
              <a:t>”</a:t>
            </a:r>
            <a:r>
              <a:rPr lang="en-HK" dirty="0"/>
              <a:t>。</a:t>
            </a:r>
            <a:r>
              <a:rPr lang="en-HK" dirty="0" err="1"/>
              <a:t>必须在多核</a:t>
            </a:r>
            <a:r>
              <a:rPr lang="en-HK" dirty="0"/>
              <a:t> CPU </a:t>
            </a:r>
            <a:r>
              <a:rPr lang="en-HK" dirty="0" err="1"/>
              <a:t>或多处理器环境下，同一瞬间有多个任务真正在各自的核上运行</a:t>
            </a:r>
            <a:r>
              <a:rPr lang="en-HK"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6947-0DB1-8F73-A241-933DB101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09EC80-45E3-6A4E-E56F-20AE34EFB419}"/>
              </a:ext>
            </a:extLst>
          </p:cNvPr>
          <p:cNvSpPr/>
          <p:nvPr/>
        </p:nvSpPr>
        <p:spPr>
          <a:xfrm>
            <a:off x="661475" y="52238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2F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</a:t>
            </a:r>
            <a:endParaRPr lang="en-US" sz="25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50F892F-9371-558A-9BDC-DBD812A349B5}"/>
              </a:ext>
            </a:extLst>
          </p:cNvPr>
          <p:cNvGrpSpPr/>
          <p:nvPr/>
        </p:nvGrpSpPr>
        <p:grpSpPr>
          <a:xfrm>
            <a:off x="661475" y="1117495"/>
            <a:ext cx="6731363" cy="673587"/>
            <a:chOff x="661475" y="1117495"/>
            <a:chExt cx="6731363" cy="673587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3BCDD130-656D-CD51-4ED6-7A730CD35B2E}"/>
                </a:ext>
              </a:extLst>
            </p:cNvPr>
            <p:cNvSpPr/>
            <p:nvPr/>
          </p:nvSpPr>
          <p:spPr>
            <a:xfrm>
              <a:off x="661475" y="1117495"/>
              <a:ext cx="5868721" cy="4069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What is the idea behind concurrency, and why is it useful?</a:t>
              </a:r>
            </a:p>
            <a:p>
              <a:pPr algn="l">
                <a:lnSpc>
                  <a:spcPct val="113000"/>
                </a:lnSpc>
              </a:pPr>
              <a:endParaRPr lang="en-US" sz="10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FA3AA6-709F-9D4E-0233-1E8F4EA27584}"/>
                </a:ext>
              </a:extLst>
            </p:cNvPr>
            <p:cNvGrpSpPr/>
            <p:nvPr/>
          </p:nvGrpSpPr>
          <p:grpSpPr>
            <a:xfrm>
              <a:off x="730487" y="1384086"/>
              <a:ext cx="6662351" cy="406996"/>
              <a:chOff x="6261043" y="2443460"/>
              <a:chExt cx="5275527" cy="767655"/>
            </a:xfrm>
          </p:grpSpPr>
          <p:pic>
            <p:nvPicPr>
              <p:cNvPr id="5" name="Image 1" descr="preencoded.png">
                <a:extLst>
                  <a:ext uri="{FF2B5EF4-FFF2-40B4-BE49-F238E27FC236}">
                    <a16:creationId xmlns:a16="http://schemas.microsoft.com/office/drawing/2014/main" id="{2C5B49BB-2DCC-C33E-9A2E-0565F5DF3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0"/>
                <a:ext cx="5275527" cy="767655"/>
              </a:xfrm>
              <a:prstGeom prst="rect">
                <a:avLst/>
              </a:prstGeom>
            </p:spPr>
          </p:pic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EDE2C012-4856-2624-8ABE-8392EC5D21B5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是指系统具有处理多个问题的能力，在同一个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core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上面 交替执行任务使其效率最大化</a:t>
                </a:r>
                <a:endParaRPr lang="en-US" sz="1250" dirty="0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FD1E80D-932F-19C8-CACA-7ABC68E31184}"/>
              </a:ext>
            </a:extLst>
          </p:cNvPr>
          <p:cNvGrpSpPr/>
          <p:nvPr/>
        </p:nvGrpSpPr>
        <p:grpSpPr>
          <a:xfrm>
            <a:off x="661475" y="1847669"/>
            <a:ext cx="11478330" cy="1179125"/>
            <a:chOff x="661475" y="1943482"/>
            <a:chExt cx="11478330" cy="1179125"/>
          </a:xfrm>
        </p:grpSpPr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D7B54425-9C0E-A557-705D-A2DAED56EA65}"/>
                </a:ext>
              </a:extLst>
            </p:cNvPr>
            <p:cNvSpPr/>
            <p:nvPr/>
          </p:nvSpPr>
          <p:spPr>
            <a:xfrm>
              <a:off x="661475" y="1943482"/>
              <a:ext cx="11478330" cy="4069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What are the differences between concurrent programming and sequential programming and parallel programming?</a:t>
              </a:r>
            </a:p>
            <a:p>
              <a:pPr marL="171450" indent="-171450" algn="l">
                <a:lnSpc>
                  <a:spcPct val="113000"/>
                </a:lnSpc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DD056DF-2FA5-13D7-0A83-ADFB2A014188}"/>
                </a:ext>
              </a:extLst>
            </p:cNvPr>
            <p:cNvGrpSpPr/>
            <p:nvPr/>
          </p:nvGrpSpPr>
          <p:grpSpPr>
            <a:xfrm>
              <a:off x="730487" y="2257280"/>
              <a:ext cx="11130834" cy="865327"/>
              <a:chOff x="6261043" y="2443460"/>
              <a:chExt cx="5275527" cy="767655"/>
            </a:xfrm>
          </p:grpSpPr>
          <p:pic>
            <p:nvPicPr>
              <p:cNvPr id="28" name="Image 1" descr="preencoded.png">
                <a:extLst>
                  <a:ext uri="{FF2B5EF4-FFF2-40B4-BE49-F238E27FC236}">
                    <a16:creationId xmlns:a16="http://schemas.microsoft.com/office/drawing/2014/main" id="{D89D9828-E67C-A746-5BAB-201B3B4AC2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0"/>
                <a:ext cx="5275527" cy="767655"/>
              </a:xfrm>
              <a:prstGeom prst="rect">
                <a:avLst/>
              </a:prstGeom>
            </p:spPr>
          </p:pic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A851FA92-6487-9DE8-73DF-67799B183A8B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Sequential programming 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是程序按照特定顺序执行。而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Parallel programming 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和 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concurrent </a:t>
                </a:r>
                <a:r>
                  <a:rPr lang="en-US" altLang="zh-CN" sz="1250" b="1" dirty="0" err="1">
                    <a:solidFill>
                      <a:srgbClr val="005A9B"/>
                    </a:solidFill>
                    <a:latin typeface="Inter Bold" pitchFamily="34" charset="0"/>
                  </a:rPr>
                  <a:t>progamming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是指系统拥有同时执行多个程序的能力。</a:t>
                </a:r>
                <a:endParaRPr lang="en-US" altLang="zh-CN" sz="1250" b="1" dirty="0">
                  <a:solidFill>
                    <a:srgbClr val="005A9B"/>
                  </a:solidFill>
                  <a:latin typeface="Inter Bold" pitchFamily="34" charset="0"/>
                </a:endParaRPr>
              </a:p>
              <a:p>
                <a:pPr>
                  <a:lnSpc>
                    <a:spcPct val="104000"/>
                  </a:lnSpc>
                </a:pP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而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parallel program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和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concurrent </a:t>
                </a:r>
                <a:r>
                  <a:rPr lang="en-US" altLang="zh-CN" sz="1250" b="1" dirty="0" err="1">
                    <a:solidFill>
                      <a:srgbClr val="005A9B"/>
                    </a:solidFill>
                    <a:latin typeface="Inter Bold" pitchFamily="34" charset="0"/>
                  </a:rPr>
                  <a:t>progam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的区别是 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parallel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能使用多个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core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去同时执行多个任务</a:t>
                </a:r>
                <a:endParaRPr lang="en-US" altLang="zh-CN" sz="1250" b="1" dirty="0">
                  <a:solidFill>
                    <a:srgbClr val="005A9B"/>
                  </a:solidFill>
                  <a:latin typeface="Inter Bold" pitchFamily="34" charset="0"/>
                </a:endParaRPr>
              </a:p>
              <a:p>
                <a:pPr>
                  <a:lnSpc>
                    <a:spcPct val="104000"/>
                  </a:lnSpc>
                </a:pP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而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concurrent program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只能在单一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core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上面 交替执行任务</a:t>
                </a:r>
                <a:endParaRPr lang="en-US" sz="1250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351DC6-B22F-66F8-E73A-5C0658C441DD}"/>
              </a:ext>
            </a:extLst>
          </p:cNvPr>
          <p:cNvGrpSpPr/>
          <p:nvPr/>
        </p:nvGrpSpPr>
        <p:grpSpPr>
          <a:xfrm>
            <a:off x="696041" y="3117037"/>
            <a:ext cx="11504208" cy="726915"/>
            <a:chOff x="787997" y="3210429"/>
            <a:chExt cx="11504208" cy="726915"/>
          </a:xfrm>
        </p:grpSpPr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CF5386B8-753A-730B-9378-645992338147}"/>
                </a:ext>
              </a:extLst>
            </p:cNvPr>
            <p:cNvSpPr/>
            <p:nvPr/>
          </p:nvSpPr>
          <p:spPr>
            <a:xfrm>
              <a:off x="813875" y="3210429"/>
              <a:ext cx="11478330" cy="3518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Can every program be made concurrent or parallel?</a:t>
              </a:r>
            </a:p>
            <a:p>
              <a:pPr marL="171450" indent="-171450" algn="l">
                <a:lnSpc>
                  <a:spcPct val="113000"/>
                </a:lnSpc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87FE3C8-0BE8-6E63-949C-90F61E912CD7}"/>
                </a:ext>
              </a:extLst>
            </p:cNvPr>
            <p:cNvGrpSpPr/>
            <p:nvPr/>
          </p:nvGrpSpPr>
          <p:grpSpPr>
            <a:xfrm>
              <a:off x="787997" y="3539742"/>
              <a:ext cx="11130834" cy="397602"/>
              <a:chOff x="6261043" y="2443460"/>
              <a:chExt cx="5275527" cy="767655"/>
            </a:xfrm>
          </p:grpSpPr>
          <p:pic>
            <p:nvPicPr>
              <p:cNvPr id="31" name="Image 1" descr="preencoded.png">
                <a:extLst>
                  <a:ext uri="{FF2B5EF4-FFF2-40B4-BE49-F238E27FC236}">
                    <a16:creationId xmlns:a16="http://schemas.microsoft.com/office/drawing/2014/main" id="{A5F505FB-7047-1C08-D123-E0D230276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0"/>
                <a:ext cx="5275527" cy="767655"/>
              </a:xfrm>
              <a:prstGeom prst="rect">
                <a:avLst/>
              </a:prstGeom>
            </p:spPr>
          </p:pic>
          <p:sp>
            <p:nvSpPr>
              <p:cNvPr id="32" name="Text 2">
                <a:extLst>
                  <a:ext uri="{FF2B5EF4-FFF2-40B4-BE49-F238E27FC236}">
                    <a16:creationId xmlns:a16="http://schemas.microsoft.com/office/drawing/2014/main" id="{4FDF5948-2454-05BA-09F9-E25F4F5F1BC0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Some tasks are naturally reply on other results. This type of programming inherently sequentially. </a:t>
                </a:r>
                <a:endParaRPr lang="en-US" sz="1250" dirty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FA3F3BD-C1C1-3873-7F99-DE41368965EE}"/>
              </a:ext>
            </a:extLst>
          </p:cNvPr>
          <p:cNvGrpSpPr/>
          <p:nvPr/>
        </p:nvGrpSpPr>
        <p:grpSpPr>
          <a:xfrm>
            <a:off x="696041" y="3996352"/>
            <a:ext cx="11340423" cy="851595"/>
            <a:chOff x="767870" y="4011002"/>
            <a:chExt cx="11340423" cy="851595"/>
          </a:xfrm>
        </p:grpSpPr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3158308A-F837-6AFD-5EBD-B72B307FBBB5}"/>
                </a:ext>
              </a:extLst>
            </p:cNvPr>
            <p:cNvSpPr/>
            <p:nvPr/>
          </p:nvSpPr>
          <p:spPr>
            <a:xfrm>
              <a:off x="787997" y="4011002"/>
              <a:ext cx="11320296" cy="329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What are embarrassingly parallel tasks?</a:t>
              </a:r>
            </a:p>
            <a:p>
              <a:pPr marL="171450" indent="-171450" algn="l">
                <a:lnSpc>
                  <a:spcPct val="113000"/>
                </a:lnSpc>
                <a:buFont typeface="Arial" panose="020B0604020202020204" pitchFamily="34" charset="0"/>
                <a:buChar char="•"/>
              </a:pPr>
              <a:endParaRPr lang="en-US" sz="100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189015F-3FEF-C070-BD17-46E705068340}"/>
                </a:ext>
              </a:extLst>
            </p:cNvPr>
            <p:cNvGrpSpPr/>
            <p:nvPr/>
          </p:nvGrpSpPr>
          <p:grpSpPr>
            <a:xfrm>
              <a:off x="767870" y="4304614"/>
              <a:ext cx="11130834" cy="557983"/>
              <a:chOff x="6261043" y="2443460"/>
              <a:chExt cx="5275527" cy="767655"/>
            </a:xfrm>
          </p:grpSpPr>
          <p:pic>
            <p:nvPicPr>
              <p:cNvPr id="34" name="Image 1" descr="preencoded.png">
                <a:extLst>
                  <a:ext uri="{FF2B5EF4-FFF2-40B4-BE49-F238E27FC236}">
                    <a16:creationId xmlns:a16="http://schemas.microsoft.com/office/drawing/2014/main" id="{2BB2EA89-7F48-CA64-F67E-832044CE7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0"/>
                <a:ext cx="5275527" cy="767655"/>
              </a:xfrm>
              <a:prstGeom prst="rect">
                <a:avLst/>
              </a:prstGeom>
            </p:spPr>
          </p:pic>
          <p:sp>
            <p:nvSpPr>
              <p:cNvPr id="35" name="Text 2">
                <a:extLst>
                  <a:ext uri="{FF2B5EF4-FFF2-40B4-BE49-F238E27FC236}">
                    <a16:creationId xmlns:a16="http://schemas.microsoft.com/office/drawing/2014/main" id="{9BDDCC45-FBEB-BE52-EB65-B031352BE684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Tasks can be split into independently sub-tasks, which have no/zero communication between them, like image processing; </a:t>
                </a:r>
              </a:p>
              <a:p>
                <a:pPr>
                  <a:lnSpc>
                    <a:spcPct val="104000"/>
                  </a:lnSpc>
                </a:pPr>
                <a:r>
                  <a:rPr 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3d video rendering;</a:t>
                </a:r>
                <a:endParaRPr lang="en-US" sz="12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462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A74BF-AC77-4C5F-CA2B-B988FB090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5F3345F-AEB5-C955-C027-6073CDCD13BA}"/>
              </a:ext>
            </a:extLst>
          </p:cNvPr>
          <p:cNvSpPr/>
          <p:nvPr/>
        </p:nvSpPr>
        <p:spPr>
          <a:xfrm>
            <a:off x="661475" y="52238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2F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</a:t>
            </a:r>
            <a:endParaRPr lang="en-US" sz="255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B8EE5C4-B6FF-830F-9C15-A5E4A97600FD}"/>
              </a:ext>
            </a:extLst>
          </p:cNvPr>
          <p:cNvGrpSpPr/>
          <p:nvPr/>
        </p:nvGrpSpPr>
        <p:grpSpPr>
          <a:xfrm>
            <a:off x="661475" y="1117495"/>
            <a:ext cx="6731363" cy="673587"/>
            <a:chOff x="661475" y="1117495"/>
            <a:chExt cx="6731363" cy="673587"/>
          </a:xfrm>
        </p:grpSpPr>
        <p:sp>
          <p:nvSpPr>
            <p:cNvPr id="3" name="Text 1">
              <a:extLst>
                <a:ext uri="{FF2B5EF4-FFF2-40B4-BE49-F238E27FC236}">
                  <a16:creationId xmlns:a16="http://schemas.microsoft.com/office/drawing/2014/main" id="{CFDC0A54-1A08-1018-358D-5D77A57F5A2A}"/>
                </a:ext>
              </a:extLst>
            </p:cNvPr>
            <p:cNvSpPr/>
            <p:nvPr/>
          </p:nvSpPr>
          <p:spPr>
            <a:xfrm>
              <a:off x="661475" y="1117495"/>
              <a:ext cx="5868721" cy="4069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What are inherently sequential tasks?</a:t>
              </a:r>
            </a:p>
            <a:p>
              <a:pPr>
                <a:lnSpc>
                  <a:spcPct val="113000"/>
                </a:lnSpc>
              </a:pPr>
              <a:endParaRPr lang="en-US" sz="100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B4F064F-FEA5-2918-5FEF-18A96D4AC137}"/>
                </a:ext>
              </a:extLst>
            </p:cNvPr>
            <p:cNvGrpSpPr/>
            <p:nvPr/>
          </p:nvGrpSpPr>
          <p:grpSpPr>
            <a:xfrm>
              <a:off x="730487" y="1384086"/>
              <a:ext cx="6662351" cy="406996"/>
              <a:chOff x="6261043" y="2443460"/>
              <a:chExt cx="5275527" cy="767655"/>
            </a:xfrm>
          </p:grpSpPr>
          <p:pic>
            <p:nvPicPr>
              <p:cNvPr id="5" name="Image 1" descr="preencoded.png">
                <a:extLst>
                  <a:ext uri="{FF2B5EF4-FFF2-40B4-BE49-F238E27FC236}">
                    <a16:creationId xmlns:a16="http://schemas.microsoft.com/office/drawing/2014/main" id="{0983F1BA-DE02-CD16-716F-F4CF0AA41F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0"/>
                <a:ext cx="5275527" cy="767655"/>
              </a:xfrm>
              <a:prstGeom prst="rect">
                <a:avLst/>
              </a:prstGeom>
            </p:spPr>
          </p:pic>
          <p:sp>
            <p:nvSpPr>
              <p:cNvPr id="6" name="Text 2">
                <a:extLst>
                  <a:ext uri="{FF2B5EF4-FFF2-40B4-BE49-F238E27FC236}">
                    <a16:creationId xmlns:a16="http://schemas.microsoft.com/office/drawing/2014/main" id="{17727FDA-24E1-726C-BCFF-D31A09DEB3DA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ct val="104000"/>
                  </a:lnSpc>
                  <a:buNone/>
                </a:pPr>
                <a:r>
                  <a:rPr 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Each step is reply on the previous step’s result.</a:t>
                </a:r>
                <a:endParaRPr lang="en-US" sz="1250" dirty="0"/>
              </a:p>
            </p:txBody>
          </p:sp>
        </p:grpSp>
      </p:grpSp>
      <p:sp>
        <p:nvSpPr>
          <p:cNvPr id="20" name="Text 1">
            <a:extLst>
              <a:ext uri="{FF2B5EF4-FFF2-40B4-BE49-F238E27FC236}">
                <a16:creationId xmlns:a16="http://schemas.microsoft.com/office/drawing/2014/main" id="{DAFE047E-088E-B272-95EC-6CB3A7684B98}"/>
              </a:ext>
            </a:extLst>
          </p:cNvPr>
          <p:cNvSpPr/>
          <p:nvPr/>
        </p:nvSpPr>
        <p:spPr>
          <a:xfrm>
            <a:off x="730487" y="5059654"/>
            <a:ext cx="11478330" cy="22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3000"/>
              </a:lnSpc>
            </a:pP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CD904D-42FA-EB15-0AB2-29F15DA8AAD1}"/>
              </a:ext>
            </a:extLst>
          </p:cNvPr>
          <p:cNvGrpSpPr/>
          <p:nvPr/>
        </p:nvGrpSpPr>
        <p:grpSpPr>
          <a:xfrm>
            <a:off x="661475" y="1847669"/>
            <a:ext cx="11478330" cy="892522"/>
            <a:chOff x="661475" y="1943482"/>
            <a:chExt cx="11478330" cy="892522"/>
          </a:xfrm>
        </p:grpSpPr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3A67BAED-4A3A-8305-CF7A-B273C1AA8926}"/>
                </a:ext>
              </a:extLst>
            </p:cNvPr>
            <p:cNvSpPr/>
            <p:nvPr/>
          </p:nvSpPr>
          <p:spPr>
            <a:xfrm>
              <a:off x="661475" y="1943482"/>
              <a:ext cx="11478330" cy="4069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What does I/O bound mean?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AF14D74-8AB4-45A9-9F05-FE529C4BE2B9}"/>
                </a:ext>
              </a:extLst>
            </p:cNvPr>
            <p:cNvGrpSpPr/>
            <p:nvPr/>
          </p:nvGrpSpPr>
          <p:grpSpPr>
            <a:xfrm>
              <a:off x="730487" y="2257279"/>
              <a:ext cx="11130834" cy="578725"/>
              <a:chOff x="6261043" y="2443461"/>
              <a:chExt cx="5275527" cy="513403"/>
            </a:xfrm>
          </p:grpSpPr>
          <p:pic>
            <p:nvPicPr>
              <p:cNvPr id="28" name="Image 1" descr="preencoded.png">
                <a:extLst>
                  <a:ext uri="{FF2B5EF4-FFF2-40B4-BE49-F238E27FC236}">
                    <a16:creationId xmlns:a16="http://schemas.microsoft.com/office/drawing/2014/main" id="{967568C8-797C-8FB6-C23E-017C95C03C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1"/>
                <a:ext cx="5275527" cy="513403"/>
              </a:xfrm>
              <a:prstGeom prst="rect">
                <a:avLst/>
              </a:prstGeom>
            </p:spPr>
          </p:pic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62ADBE18-FB21-0206-8F51-793AB1A61E14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程序的性能瓶颈在于等待数据从外部设备（磁盘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/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网卡）传入或传出，而非 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CPU 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内部计算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.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典型的解决方案：异步非阻塞 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+ 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批量操作 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+ </a:t>
                </a:r>
              </a:p>
              <a:p>
                <a:pPr>
                  <a:lnSpc>
                    <a:spcPct val="104000"/>
                  </a:lnSpc>
                </a:pP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缓存（</a:t>
                </a:r>
                <a:r>
                  <a:rPr lang="en-US" altLang="zh-CN" sz="1250" b="1" dirty="0">
                    <a:solidFill>
                      <a:srgbClr val="005A9B"/>
                    </a:solidFill>
                    <a:latin typeface="Inter Bold" pitchFamily="34" charset="0"/>
                  </a:rPr>
                  <a:t>Redis/</a:t>
                </a:r>
                <a:r>
                  <a:rPr lang="zh-CN" alt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内存）</a:t>
                </a:r>
                <a:r>
                  <a:rPr lang="en-US" sz="1250" b="1" dirty="0">
                    <a:solidFill>
                      <a:srgbClr val="005A9B"/>
                    </a:solidFill>
                    <a:latin typeface="Inter Bold" pitchFamily="34" charset="0"/>
                  </a:rPr>
                  <a:t> </a:t>
                </a:r>
                <a:endParaRPr lang="en-US" sz="1250" dirty="0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73CF875-1FBD-E0A6-9657-7B9EE2F061DB}"/>
              </a:ext>
            </a:extLst>
          </p:cNvPr>
          <p:cNvGrpSpPr/>
          <p:nvPr/>
        </p:nvGrpSpPr>
        <p:grpSpPr>
          <a:xfrm>
            <a:off x="661475" y="2809495"/>
            <a:ext cx="11504208" cy="726915"/>
            <a:chOff x="787997" y="3210429"/>
            <a:chExt cx="11504208" cy="726915"/>
          </a:xfrm>
        </p:grpSpPr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EEC21932-6681-A0A3-60A4-E47146B73E4F}"/>
                </a:ext>
              </a:extLst>
            </p:cNvPr>
            <p:cNvSpPr/>
            <p:nvPr/>
          </p:nvSpPr>
          <p:spPr>
            <a:xfrm>
              <a:off x="813875" y="3210429"/>
              <a:ext cx="11478330" cy="3518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US" dirty="0"/>
                <a:t>How is concurrent processing currently being used in the real world?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845EAC3-5B54-B0BB-7548-B3F339E8C2FD}"/>
                </a:ext>
              </a:extLst>
            </p:cNvPr>
            <p:cNvGrpSpPr/>
            <p:nvPr/>
          </p:nvGrpSpPr>
          <p:grpSpPr>
            <a:xfrm>
              <a:off x="787997" y="3539742"/>
              <a:ext cx="11130834" cy="397602"/>
              <a:chOff x="6261043" y="2443460"/>
              <a:chExt cx="5275527" cy="767655"/>
            </a:xfrm>
          </p:grpSpPr>
          <p:pic>
            <p:nvPicPr>
              <p:cNvPr id="31" name="Image 1" descr="preencoded.png">
                <a:extLst>
                  <a:ext uri="{FF2B5EF4-FFF2-40B4-BE49-F238E27FC236}">
                    <a16:creationId xmlns:a16="http://schemas.microsoft.com/office/drawing/2014/main" id="{A117B723-F2CD-3E44-E7C2-80D1CF968C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261043" y="2443460"/>
                <a:ext cx="5275527" cy="767655"/>
              </a:xfrm>
              <a:prstGeom prst="rect">
                <a:avLst/>
              </a:prstGeom>
            </p:spPr>
          </p:pic>
          <p:sp>
            <p:nvSpPr>
              <p:cNvPr id="32" name="Text 2">
                <a:extLst>
                  <a:ext uri="{FF2B5EF4-FFF2-40B4-BE49-F238E27FC236}">
                    <a16:creationId xmlns:a16="http://schemas.microsoft.com/office/drawing/2014/main" id="{7CBD7958-5B23-1351-A411-593719060B74}"/>
                  </a:ext>
                </a:extLst>
              </p:cNvPr>
              <p:cNvSpPr/>
              <p:nvPr/>
            </p:nvSpPr>
            <p:spPr>
              <a:xfrm>
                <a:off x="6486462" y="2592685"/>
                <a:ext cx="4900887" cy="20349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04000"/>
                  </a:lnSpc>
                </a:pPr>
                <a:endParaRPr lang="en-US" sz="1250" dirty="0"/>
              </a:p>
            </p:txBody>
          </p:sp>
        </p:grpSp>
      </p:grpSp>
      <p:sp>
        <p:nvSpPr>
          <p:cNvPr id="7" name="Text 2">
            <a:extLst>
              <a:ext uri="{FF2B5EF4-FFF2-40B4-BE49-F238E27FC236}">
                <a16:creationId xmlns:a16="http://schemas.microsoft.com/office/drawing/2014/main" id="{DB6DC9D7-0BAF-9B21-777A-0FF5084B345C}"/>
              </a:ext>
            </a:extLst>
          </p:cNvPr>
          <p:cNvSpPr/>
          <p:nvPr/>
        </p:nvSpPr>
        <p:spPr>
          <a:xfrm>
            <a:off x="918550" y="3206692"/>
            <a:ext cx="10340381" cy="22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250" b="1" dirty="0">
                <a:solidFill>
                  <a:srgbClr val="005A9B"/>
                </a:solidFill>
                <a:latin typeface="Inter Bold" pitchFamily="34" charset="0"/>
              </a:rPr>
              <a:t>Heavily calculation area, like AI, 3D rendering; web rendering.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75705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7ED3-C2D1-EE88-7718-E27705B10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C01354-D498-3454-3AF1-8860C1A97623}"/>
              </a:ext>
            </a:extLst>
          </p:cNvPr>
          <p:cNvSpPr/>
          <p:nvPr/>
        </p:nvSpPr>
        <p:spPr>
          <a:xfrm>
            <a:off x="376804" y="2465206"/>
            <a:ext cx="10868745" cy="123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00" b="1" i="0" u="none" strike="noStrike" kern="1200" cap="none" spc="0" normalizeH="0" baseline="0" noProof="0" dirty="0">
                <a:ln>
                  <a:noFill/>
                </a:ln>
                <a:solidFill>
                  <a:srgbClr val="002F6B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Chapter 02</a:t>
            </a:r>
            <a:endParaRPr kumimoji="0" lang="en-US" sz="7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FE73-8E8A-8942-BB48-FD219AA7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D860E8-1045-5E80-D7AC-F796D31FBDAC}"/>
              </a:ext>
            </a:extLst>
          </p:cNvPr>
          <p:cNvSpPr/>
          <p:nvPr/>
        </p:nvSpPr>
        <p:spPr>
          <a:xfrm>
            <a:off x="661475" y="522387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2F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Concurrent vs. Sequential vs. Parallel</a:t>
            </a:r>
            <a:endParaRPr lang="en-US" sz="25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F9995B-8236-77B3-5ECE-7361FEEA6B1A}"/>
              </a:ext>
            </a:extLst>
          </p:cNvPr>
          <p:cNvSpPr/>
          <p:nvPr/>
        </p:nvSpPr>
        <p:spPr>
          <a:xfrm>
            <a:off x="661475" y="1108869"/>
            <a:ext cx="11478330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models for executing tasks — each with different trade-offs in performance, complexity, and resource usage.</a:t>
            </a:r>
            <a:endParaRPr lang="en-US" sz="10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7E8DFA9-382B-6EB1-B21F-C5535BC7E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6694"/>
            <a:ext cx="4747895" cy="4748014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9627ECA-292C-5CDA-D185-50557AE7EC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1043" y="2443460"/>
            <a:ext cx="5275527" cy="767655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6AC5787-7DAB-65C6-9FBA-91BBB163FD66}"/>
              </a:ext>
            </a:extLst>
          </p:cNvPr>
          <p:cNvSpPr/>
          <p:nvPr/>
        </p:nvSpPr>
        <p:spPr>
          <a:xfrm>
            <a:off x="6486462" y="2592685"/>
            <a:ext cx="490088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5A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Sequential</a:t>
            </a:r>
            <a:endParaRPr lang="en-US" sz="12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40A8F3B-8473-FA04-3C39-BA7D4DB8F973}"/>
              </a:ext>
            </a:extLst>
          </p:cNvPr>
          <p:cNvSpPr/>
          <p:nvPr/>
        </p:nvSpPr>
        <p:spPr>
          <a:xfrm>
            <a:off x="6486462" y="2885877"/>
            <a:ext cx="4900887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 run one after another. Simplest model, but idle during I/O waits.</a:t>
            </a:r>
            <a:endParaRPr lang="en-US" sz="10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CA0073FF-2F76-FF5B-B169-2D5B74875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1043" y="3300809"/>
            <a:ext cx="5275527" cy="94367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C602DD1E-DE0D-F381-DE1A-357FF0D07CBB}"/>
              </a:ext>
            </a:extLst>
          </p:cNvPr>
          <p:cNvSpPr/>
          <p:nvPr/>
        </p:nvSpPr>
        <p:spPr>
          <a:xfrm>
            <a:off x="6486462" y="3450034"/>
            <a:ext cx="490088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5A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Concurrent</a:t>
            </a:r>
            <a:endParaRPr lang="en-US" sz="12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481DD82-A39A-8B15-C72B-846394829C4F}"/>
              </a:ext>
            </a:extLst>
          </p:cNvPr>
          <p:cNvSpPr/>
          <p:nvPr/>
        </p:nvSpPr>
        <p:spPr>
          <a:xfrm>
            <a:off x="6486462" y="3743226"/>
            <a:ext cx="490088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>
              <a:lnSpc>
                <a:spcPct val="113000"/>
              </a:lnSpc>
            </a:pPr>
            <a:r>
              <a:rPr lang="en-HK" dirty="0"/>
              <a:t>指系统具备</a:t>
            </a:r>
            <a:r>
              <a:rPr lang="en-HK" b="1" dirty="0"/>
              <a:t>处理多个任务</a:t>
            </a:r>
            <a:r>
              <a:rPr lang="en-HK" dirty="0"/>
              <a:t>的能力。它强调的是</a:t>
            </a:r>
            <a:r>
              <a:rPr lang="en-HK" b="1" dirty="0"/>
              <a:t>“</a:t>
            </a:r>
            <a:r>
              <a:rPr lang="en-HK" b="1" dirty="0" err="1"/>
              <a:t>交替执行</a:t>
            </a:r>
            <a:r>
              <a:rPr lang="en-HK" b="1" dirty="0"/>
              <a:t>”</a:t>
            </a:r>
            <a:r>
              <a:rPr lang="en-HK" dirty="0"/>
              <a:t>。</a:t>
            </a:r>
            <a:r>
              <a:rPr lang="en-HK" dirty="0" err="1"/>
              <a:t>在单核</a:t>
            </a:r>
            <a:r>
              <a:rPr lang="en-HK" dirty="0"/>
              <a:t> CPU </a:t>
            </a:r>
            <a:r>
              <a:rPr lang="en-HK" dirty="0" err="1"/>
              <a:t>上，通过极短的时间片切换（上下文切换</a:t>
            </a:r>
            <a:r>
              <a:rPr lang="en-HK" dirty="0"/>
              <a:t>），</a:t>
            </a:r>
            <a:r>
              <a:rPr lang="en-HK" dirty="0" err="1"/>
              <a:t>让多个任务看起来像在同时进行，但实际上同一瞬间只有一个任务在跑</a:t>
            </a:r>
            <a:r>
              <a:rPr lang="en-HK" dirty="0"/>
              <a:t>。</a:t>
            </a:r>
            <a:endParaRPr lang="en-US" sz="100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7B727F00-B58D-B73B-A356-9F336FA94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1043" y="4334173"/>
            <a:ext cx="5275527" cy="943670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AE225893-6844-FBF3-FF3C-71E2929466D0}"/>
              </a:ext>
            </a:extLst>
          </p:cNvPr>
          <p:cNvSpPr/>
          <p:nvPr/>
        </p:nvSpPr>
        <p:spPr>
          <a:xfrm>
            <a:off x="6486462" y="4483398"/>
            <a:ext cx="490088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AE8D4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</a:t>
            </a:r>
            <a:endParaRPr lang="en-US" sz="12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38B00F4-9346-817B-6704-63412ED91578}"/>
              </a:ext>
            </a:extLst>
          </p:cNvPr>
          <p:cNvSpPr/>
          <p:nvPr/>
        </p:nvSpPr>
        <p:spPr>
          <a:xfrm>
            <a:off x="6486462" y="4776589"/>
            <a:ext cx="4900887" cy="35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lvl="0"/>
            <a:r>
              <a:rPr lang="en-HK" dirty="0"/>
              <a:t>指系统具备</a:t>
            </a:r>
            <a:r>
              <a:rPr lang="en-HK" b="1" dirty="0"/>
              <a:t>同时执行</a:t>
            </a:r>
            <a:r>
              <a:rPr lang="en-HK" dirty="0"/>
              <a:t>多个任务的能力。它强调的是</a:t>
            </a:r>
            <a:r>
              <a:rPr lang="en-HK" b="1" dirty="0"/>
              <a:t>“</a:t>
            </a:r>
            <a:r>
              <a:rPr lang="en-HK" b="1" dirty="0" err="1"/>
              <a:t>同时进行</a:t>
            </a:r>
            <a:r>
              <a:rPr lang="en-HK" b="1" dirty="0"/>
              <a:t>”</a:t>
            </a:r>
            <a:r>
              <a:rPr lang="en-HK" dirty="0"/>
              <a:t>。</a:t>
            </a:r>
            <a:r>
              <a:rPr lang="en-HK" dirty="0" err="1"/>
              <a:t>必须在多核</a:t>
            </a:r>
            <a:r>
              <a:rPr lang="en-HK" dirty="0"/>
              <a:t> CPU </a:t>
            </a:r>
            <a:r>
              <a:rPr lang="en-HK" dirty="0" err="1"/>
              <a:t>或多处理器环境下，同一瞬间有多个任务真正在各自的核上运行</a:t>
            </a:r>
            <a:r>
              <a:rPr lang="en-HK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0779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5A9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5A9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527</Words>
  <Application>Microsoft Office PowerPoint</Application>
  <PresentationFormat>Widescreen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</vt:lpstr>
      <vt:lpstr>Calibri</vt:lpstr>
      <vt:lpstr>Aptos</vt:lpstr>
      <vt:lpstr>Inter Bold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Ziyang ZHAN</cp:lastModifiedBy>
  <cp:revision>3</cp:revision>
  <dcterms:created xsi:type="dcterms:W3CDTF">2026-09-04T05:49:14Z</dcterms:created>
  <dcterms:modified xsi:type="dcterms:W3CDTF">2026-09-05T10:02:56Z</dcterms:modified>
</cp:coreProperties>
</file>